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3654379e9848c9" /><Relationship Type="http://schemas.openxmlformats.org/officeDocument/2006/relationships/extended-properties" Target="/docProps/app.xml" Id="R045299e0ee4c4bb9" /><Relationship Type="http://schemas.openxmlformats.org/officeDocument/2006/relationships/officeDocument" Target="/ppt/presentation.xml" Id="R3ba6df22a49845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2389b35071419b"/>
  </p:sldMasterIdLst>
  <p:notesMasterIdLst>
    <p:notesMasterId xmlns:r="http://schemas.openxmlformats.org/officeDocument/2006/relationships" r:id="Rdf2d8878b923447b"/>
  </p:notesMasterIdLst>
  <p:sldIdLst>
    <p:sldId xmlns:r="http://schemas.openxmlformats.org/officeDocument/2006/relationships" id="256" r:id="R0d8369e8b9e542ff"/>
    <p:sldId xmlns:r="http://schemas.openxmlformats.org/officeDocument/2006/relationships" id="257" r:id="R674d6788f84c4df5"/>
    <p:sldId xmlns:r="http://schemas.openxmlformats.org/officeDocument/2006/relationships" id="258" r:id="R45e82f0b5c5a4271"/>
    <p:sldId xmlns:r="http://schemas.openxmlformats.org/officeDocument/2006/relationships" id="259" r:id="Rd5cb3f6b88614e5e"/>
    <p:sldId xmlns:r="http://schemas.openxmlformats.org/officeDocument/2006/relationships" id="260" r:id="R6e7ca78166444f2e"/>
    <p:sldId xmlns:r="http://schemas.openxmlformats.org/officeDocument/2006/relationships" id="261" r:id="R5d12a403421d46bd"/>
    <p:sldId xmlns:r="http://schemas.openxmlformats.org/officeDocument/2006/relationships" id="262" r:id="Rd6f10b930861432e"/>
    <p:sldId xmlns:r="http://schemas.openxmlformats.org/officeDocument/2006/relationships" id="263" r:id="Rb4e745dcf40c496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f1bdedea75449e" /><Relationship Type="http://schemas.openxmlformats.org/officeDocument/2006/relationships/slideMaster" Target="/ppt/slideMasters/slideMaster1.xml" Id="R6c2389b35071419b" /><Relationship Type="http://schemas.openxmlformats.org/officeDocument/2006/relationships/notesMaster" Target="/ppt/notesMasters/notesMaster1.xml" Id="Rdf2d8878b923447b" /><Relationship Type="http://schemas.openxmlformats.org/officeDocument/2006/relationships/presProps" Target="/ppt/presProps.xml" Id="R63daf343a774489c" /><Relationship Type="http://schemas.openxmlformats.org/officeDocument/2006/relationships/tableStyles" Target="/ppt/tableStyles.xml" Id="R8dfca0d9490f4f2f" /><Relationship Type="http://schemas.openxmlformats.org/officeDocument/2006/relationships/slide" Target="/ppt/slides/slide1.xml" Id="R0d8369e8b9e542ff" /><Relationship Type="http://schemas.openxmlformats.org/officeDocument/2006/relationships/slide" Target="/ppt/slides/slide2.xml" Id="R674d6788f84c4df5" /><Relationship Type="http://schemas.openxmlformats.org/officeDocument/2006/relationships/slide" Target="/ppt/slides/slide3.xml" Id="R45e82f0b5c5a4271" /><Relationship Type="http://schemas.openxmlformats.org/officeDocument/2006/relationships/slide" Target="/ppt/slides/slide4.xml" Id="Rd5cb3f6b88614e5e" /><Relationship Type="http://schemas.openxmlformats.org/officeDocument/2006/relationships/slide" Target="/ppt/slides/slide5.xml" Id="R6e7ca78166444f2e" /><Relationship Type="http://schemas.openxmlformats.org/officeDocument/2006/relationships/slide" Target="/ppt/slides/slide6.xml" Id="R5d12a403421d46bd" /><Relationship Type="http://schemas.openxmlformats.org/officeDocument/2006/relationships/slide" Target="/ppt/slides/slide7.xml" Id="Rd6f10b930861432e" /><Relationship Type="http://schemas.openxmlformats.org/officeDocument/2006/relationships/slide" Target="/ppt/slides/slide8.xml" Id="Rb4e745dcf40c49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f20bec2eb244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06bd2ec0834927" /><Relationship Type="http://schemas.openxmlformats.org/officeDocument/2006/relationships/notesMaster" Target="/ppt/notesMasters/notesMaster1.xml" Id="R5f9117815d2949f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efdaaad7e541e6" /><Relationship Type="http://schemas.openxmlformats.org/officeDocument/2006/relationships/notesMaster" Target="/ppt/notesMasters/notesMaster1.xml" Id="R16ff0da11d2e42f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49139026a3640c3" /><Relationship Type="http://schemas.openxmlformats.org/officeDocument/2006/relationships/notesMaster" Target="/ppt/notesMasters/notesMaster1.xml" Id="Rac18fea114c845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b1d841f3dd54cb1" /><Relationship Type="http://schemas.openxmlformats.org/officeDocument/2006/relationships/notesMaster" Target="/ppt/notesMasters/notesMaster1.xml" Id="Rb68ac9e6fc324c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8e01c08a8e5469d" /><Relationship Type="http://schemas.openxmlformats.org/officeDocument/2006/relationships/notesMaster" Target="/ppt/notesMasters/notesMaster1.xml" Id="R499ba8706a1342a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c15c9ef2b294573" /><Relationship Type="http://schemas.openxmlformats.org/officeDocument/2006/relationships/notesMaster" Target="/ppt/notesMasters/notesMaster1.xml" Id="R98051b0e15934d5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9183bb561bd4084" /><Relationship Type="http://schemas.openxmlformats.org/officeDocument/2006/relationships/notesMaster" Target="/ppt/notesMasters/notesMaster1.xml" Id="R465a4e68104b4a5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d2216a2208f449d" /><Relationship Type="http://schemas.openxmlformats.org/officeDocument/2006/relationships/notesMaster" Target="/ppt/notesMasters/notesMaster1.xml" Id="R57042b408cec47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54813c38d64e7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4066be6937410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10aafb9e75474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5de3b7334d449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676a9dbb5d440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e0d0ae400440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55DF47E-028B-41FF-AAFE-6C5DEDB80E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D3C74B9-AC71-45BC-827D-1B1C8B0E2EF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6BF90E0-C4CF-4B84-B1BB-830C13F962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218986C-AC42-455E-88D8-A4DD36F4C2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FBE5FB1-0C8B-4328-8248-BFBE31F913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AA2C466-BC2B-46BB-88A8-4CDAFE8E6E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F0E0BA7-C709-4CCB-A7D7-C85D9BAFAB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4E5A08D-FFC1-49A1-A41F-24B03F133A1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3B7BCAC-CFFA-4173-B6BD-88312491F3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03FFA5A-C66B-406E-B7B4-1DC066D08B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783565d88f4463" /><Relationship Type="http://schemas.openxmlformats.org/officeDocument/2006/relationships/slideLayout" Target="/ppt/slideLayouts/slideLayout1.xml" Id="Rb39c784ea47f4193" /><Relationship Type="http://schemas.openxmlformats.org/officeDocument/2006/relationships/slideLayout" Target="/ppt/slideLayouts/slideLayout2.xml" Id="R311fa0bdf82f4b3d" /><Relationship Type="http://schemas.openxmlformats.org/officeDocument/2006/relationships/slideLayout" Target="/ppt/slideLayouts/slideLayout3.xml" Id="R93a4c3856bd24574" /><Relationship Type="http://schemas.openxmlformats.org/officeDocument/2006/relationships/slideLayout" Target="/ppt/slideLayouts/slideLayout4.xml" Id="R1fa19f3564754721" /><Relationship Type="http://schemas.openxmlformats.org/officeDocument/2006/relationships/slideLayout" Target="/ppt/slideLayouts/slideLayout5.xml" Id="R31bb54c1763a4afb" /><Relationship Type="http://schemas.openxmlformats.org/officeDocument/2006/relationships/slideLayout" Target="/ppt/slideLayouts/slideLayout6.xml" Id="R27875d2857374c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9c784ea47f4193"/>
    <p:sldLayoutId xmlns:r="http://schemas.openxmlformats.org/officeDocument/2006/relationships" id="2147483650" r:id="R311fa0bdf82f4b3d"/>
    <p:sldLayoutId xmlns:r="http://schemas.openxmlformats.org/officeDocument/2006/relationships" id="2147483651" r:id="R93a4c3856bd24574"/>
    <p:sldLayoutId xmlns:r="http://schemas.openxmlformats.org/officeDocument/2006/relationships" id="2147483652" r:id="R1fa19f3564754721"/>
    <p:sldLayoutId xmlns:r="http://schemas.openxmlformats.org/officeDocument/2006/relationships" id="2147483653" r:id="R31bb54c1763a4afb"/>
    <p:sldLayoutId xmlns:r="http://schemas.openxmlformats.org/officeDocument/2006/relationships" id="2147483654" r:id="R27875d2857374c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193d8e2afa43ad" /><Relationship Type="http://schemas.openxmlformats.org/officeDocument/2006/relationships/notesSlide" Target="/ppt/notesSlides/notesSlide1.xml" Id="R217ac9c613b544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4c3b027c1a4013" /><Relationship Type="http://schemas.openxmlformats.org/officeDocument/2006/relationships/notesSlide" Target="/ppt/notesSlides/notesSlide2.xml" Id="R6514a541b53948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db1917e19c4800" /><Relationship Type="http://schemas.openxmlformats.org/officeDocument/2006/relationships/notesSlide" Target="/ppt/notesSlides/notesSlide3.xml" Id="Re10d11deb2a04a3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e4389c939d4647" /><Relationship Type="http://schemas.openxmlformats.org/officeDocument/2006/relationships/notesSlide" Target="/ppt/notesSlides/notesSlide4.xml" Id="R54c517af4a7143b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d87e2c9e3240e0" /><Relationship Type="http://schemas.openxmlformats.org/officeDocument/2006/relationships/notesSlide" Target="/ppt/notesSlides/notesSlide5.xml" Id="R47446e4cde8849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9f09064be24edf" /><Relationship Type="http://schemas.openxmlformats.org/officeDocument/2006/relationships/notesSlide" Target="/ppt/notesSlides/notesSlide6.xml" Id="R586f5c13ddbe445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ce146699084bd9" /><Relationship Type="http://schemas.openxmlformats.org/officeDocument/2006/relationships/notesSlide" Target="/ppt/notesSlides/notesSlide7.xml" Id="Rbbac9c590e39451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50c72c33c0435b" /><Relationship Type="http://schemas.openxmlformats.org/officeDocument/2006/relationships/notesSlide" Target="/ppt/notesSlides/notesSlide8.xml" Id="Rb65a90c8e17846d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021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F26023-67D3-4DAC-A188-DA3694AB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2B56A7-EC6C-4BD6-BA49-935FAF1CE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0"/>
            <a:ext cx="4762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C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328508-ECA6-4372-A530-6F058D90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1925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TOYOTA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6534D6-720D-4360-9A7A-E528FBA3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33625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B88931-2DF9-4C95-8B52-24F74FC6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14625"/>
            <a:ext cx="342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KAIZEN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4DB4CB-AB8B-4AE7-93BD-3C60CABD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38550"/>
            <a:ext cx="342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169"/>
          </a:bodyPr>
          <a:lstStyle xmlns:a="http://schemas.openxmlformats.org/drawingml/2006/main">
            <a:defPPr algn="l">
              <a:defRPr sz="2175" b="0">
                <a:solidFill>
                  <a:srgbClr val="E5E7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E5E7E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5E7E9"/>
                </a:solidFill>
                <a:latin typeface="Arial"/>
                <a:ea typeface="Arial"/>
                <a:cs typeface="Arial"/>
              </a:rPr>
              <a:t>Continuous improvement</a:t>
            </a:r>
          </a:p>
          <a:p xmlns:a="http://schemas.openxmlformats.org/drawingml/2006/main">
            <a:pPr algn="l">
              <a:defRPr sz="2175" b="0">
                <a:solidFill>
                  <a:srgbClr val="E5E7E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5E7E9"/>
                </a:solidFill>
                <a:latin typeface="Arial"/>
                <a:ea typeface="Arial"/>
                <a:cs typeface="Arial"/>
              </a:rPr>
              <a:t>in the Toyota Production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4A115E-24EC-4E4D-B9DE-EA3BAF82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381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949"/>
          </a:bodyPr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Japanese management model and operational performance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7FC1C1-3BC8-46A4-ABC2-FBD78F0D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625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D2D4D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D2D4D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2D4D6"/>
                </a:solidFill>
                <a:latin typeface="Arial"/>
                <a:ea typeface="Arial"/>
                <a:cs typeface="Arial"/>
              </a:rPr>
              <a:t>Djeddou Nour El Islam  ·  Houari Zakaria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51883E-FF57-4E08-8049-0A297E2A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B9BEC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B9BEC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9BEC2"/>
                </a:solidFill>
                <a:latin typeface="Arial"/>
                <a:ea typeface="Arial"/>
                <a:cs typeface="Arial"/>
              </a:rPr>
              <a:t>ACADEMIC CASE STUDY</a:t>
            </a:r>
          </a:p>
        </p:txBody>
      </p:sp>
    </p:spTree>
    <p:extLst>
      <p:ext uri="{BB962C8B-B14F-4D97-AF65-F5344CB8AC3E}">
        <p14:creationId xmlns:p14="http://schemas.microsoft.com/office/powerpoint/2010/main" val="8418576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ABE151-F81A-429A-8F11-45597C67D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2D6D6F-4C85-4970-B25C-539D5D83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Research focus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35AE97-6C4F-4E1E-8541-6FAC671E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3000"/>
            <a:ext cx="590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F9A964-463D-413E-B542-1841AF19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55B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555B6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55B6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CB6AE3-3765-4F3B-BCF1-3457C3B3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95450"/>
            <a:ext cx="71437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How does Toyota apply Kaizen as a continuous improvement approach, and how does it contribute to the company’s operational performance?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8238B5-91CA-41B4-95F6-C8F1E3E1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33550"/>
            <a:ext cx="2857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5F6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D3ED43-5B6B-4A01-8D6A-11E43E92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812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THE CENTRAL IDEA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07747A-F71D-4443-B1AB-CA46B2BB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00300"/>
            <a:ext cx="23050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>
            <a:defPPr algn="l">
              <a:defRPr sz="20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Small, regular improvements become part of everyday work.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AB8FEA-40E2-4DB4-B389-313191FB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933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555B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55B6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55B61"/>
                </a:solidFill>
                <a:latin typeface="Arial"/>
                <a:ea typeface="Arial"/>
                <a:cs typeface="Arial"/>
              </a:rPr>
              <a:t>The presentation follows the management model, the TPS, Toyota’s improvement cycle, and the conditions that shape results.</a:t>
            </a:r>
          </a:p>
        </p:txBody>
      </p:sp>
    </p:spTree>
    <p:extLst>
      <p:ext uri="{BB962C8B-B14F-4D97-AF65-F5344CB8AC3E}">
        <p14:creationId xmlns:p14="http://schemas.microsoft.com/office/powerpoint/2010/main" val="7458303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3BA759-E47B-43C0-BB9E-116296E6C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59253D-202F-4424-A064-FD532486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Kaizen in the Japanese management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442AD3-1BBF-4157-92C2-F4EFC9BF2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3000"/>
            <a:ext cx="590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E5617B-8D56-4DA5-91D5-CF1CDE6C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55B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555B6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55B6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54D457-46C5-49E1-9384-90964BEF8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506"/>
          </a:bodyPr>
          <a:lstStyle xmlns:a="http://schemas.openxmlformats.org/drawingml/2006/main">
            <a:defPPr algn="l">
              <a:defRPr sz="2025" b="1">
                <a:solidFill>
                  <a:srgbClr val="555B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555B6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B61"/>
                </a:solidFill>
                <a:latin typeface="Arial"/>
                <a:ea typeface="Arial"/>
                <a:cs typeface="Arial"/>
              </a:rPr>
              <a:t>At Toyota, improvement is a shared, ongoing part of work—not a one-time project.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7153B3-5404-4822-961A-180A4F49A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57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06E4F9-2505-480E-9E17-3E90F9001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7044"/>
          </a:bodyPr>
          <a:lstStyle xmlns:a="http://schemas.openxmlformats.org/drawingml/2006/main">
            <a:defPPr algn="l">
              <a:defRPr sz="18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CONTINUOUS IMPROVEMENT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C86AC0-BF8C-4E0A-B7B3-314458696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19425"/>
            <a:ext cx="261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l">
              <a:defRPr sz="2550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Kaizen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CF20E2-9BF7-4439-869C-5F664AF9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00450"/>
            <a:ext cx="285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91B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91B1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1B1D"/>
                </a:solidFill>
                <a:latin typeface="Arial"/>
                <a:ea typeface="Arial"/>
                <a:cs typeface="Arial"/>
              </a:rPr>
              <a:t>Small, regular changes to the way work is done; employees help identify problems and reduce waste.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85F975-7A25-4914-9216-87B4F10F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57450"/>
            <a:ext cx="57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28A9DB-879C-4C8E-98EB-6B0661F2F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57450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1294"/>
          </a:bodyPr>
          <a:lstStyle xmlns:a="http://schemas.openxmlformats.org/drawingml/2006/main">
            <a:defPPr algn="l">
              <a:defRPr sz="18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TOTAL QUALITY MANAGEMENT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F60A36-6A30-4099-9D1F-60B65FE6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1942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1147"/>
          </a:bodyPr>
          <a:lstStyle xmlns:a="http://schemas.openxmlformats.org/drawingml/2006/main">
            <a:defPPr algn="l"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Quality across the process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03DBE0-80DA-4D94-A3B1-E67850BD0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00450"/>
            <a:ext cx="29051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91B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91B1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1B1D"/>
                </a:solidFill>
                <a:latin typeface="Arial"/>
                <a:ea typeface="Arial"/>
                <a:cs typeface="Arial"/>
              </a:rPr>
              <a:t>Quality improvement is an ongoing responsibility shared across the organization.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EB738B-2039-401D-9758-4F2AD313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57450"/>
            <a:ext cx="57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8114B9-B921-4D95-840B-FE41C3F3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57450"/>
            <a:ext cx="297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27"/>
          </a:bodyPr>
          <a:lstStyle xmlns:a="http://schemas.openxmlformats.org/drawingml/2006/main">
            <a:defPPr algn="l">
              <a:defRPr sz="18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EMPLOYEE PARTICIPATION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C4874A-DC5F-43DC-A990-32D599C7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194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474"/>
          </a:bodyPr>
          <a:lstStyle xmlns:a="http://schemas.openxmlformats.org/drawingml/2006/main">
            <a:defPPr algn="l"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People closest to work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0CAE30-B07B-45A9-BBCF-C26DD4E7B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00450"/>
            <a:ext cx="285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91B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91B1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1B1D"/>
                </a:solidFill>
                <a:latin typeface="Arial"/>
                <a:ea typeface="Arial"/>
                <a:cs typeface="Arial"/>
              </a:rPr>
              <a:t>Workers contribute ideas and take part in regular problem-solving, with management support.</a:t>
            </a:r>
          </a:p>
        </p:txBody>
      </p:sp>
    </p:spTree>
    <p:extLst>
      <p:ext uri="{BB962C8B-B14F-4D97-AF65-F5344CB8AC3E}">
        <p14:creationId xmlns:p14="http://schemas.microsoft.com/office/powerpoint/2010/main" val="12193716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56E2D5-AFA6-41D4-9AC9-FE40871A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4A034D-D104-41E4-B6CF-4330DA1B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804"/>
          </a:bodyPr>
          <a:lstStyle xmlns:a="http://schemas.openxmlformats.org/drawingml/2006/main">
            <a:defPPr algn="l"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Toyota Production System: two principles, one improvement base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B5B8C6-169A-4224-8276-DCFB582DE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3000"/>
            <a:ext cx="590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9D0025-6559-4CA2-B175-B29F2BE4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55B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555B6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55B6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985159-F33F-4736-BC54-D3EE8A10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555B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55B6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55B61"/>
                </a:solidFill>
                <a:latin typeface="Arial"/>
                <a:ea typeface="Arial"/>
                <a:cs typeface="Arial"/>
              </a:rPr>
              <a:t>TPS organizes production around timely flow and built-in quality.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BFCD2D-70EF-4A77-885A-53AF5D97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33600"/>
            <a:ext cx="9667875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02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B517DE-8B8C-42A6-AC6A-2805BC4CF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3360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CUSTOMER NEEDS: the right product, in the right amount, at the right time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143C54-AD2F-4D0F-B9E2-2AF678CA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048000"/>
            <a:ext cx="3905250" cy="193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8DA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A80205-1AB6-4958-B6D1-B5CD56F7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48000"/>
            <a:ext cx="3905250" cy="193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8DA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15A5D3-D426-4572-83F6-54868143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76600"/>
            <a:ext cx="342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950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JUST-IN-TIME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3275C8-FAF1-49B6-95F7-5647BFC4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29050"/>
            <a:ext cx="3048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650" b="0">
                <a:solidFill>
                  <a:srgbClr val="191B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191B1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1B1D"/>
                </a:solidFill>
                <a:latin typeface="Arial"/>
                <a:ea typeface="Arial"/>
                <a:cs typeface="Arial"/>
              </a:rPr>
              <a:t>Provide what production needs, in the required amount, at the right time.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405DE9-D703-4DB5-87C7-924E5A795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76600"/>
            <a:ext cx="342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950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JIDOKA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CC6A60-EE62-4A9E-88F3-5F5658A6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29050"/>
            <a:ext cx="3048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650" b="0">
                <a:solidFill>
                  <a:srgbClr val="191B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191B1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1B1D"/>
                </a:solidFill>
                <a:latin typeface="Arial"/>
                <a:ea typeface="Arial"/>
                <a:cs typeface="Arial"/>
              </a:rPr>
              <a:t>Detect a problem and stop the process so it can be corrected before defects move 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3F8C5D-9D5C-428A-B0F6-C1810C88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48275"/>
            <a:ext cx="966787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84EA67-90AF-465A-9FFC-1F45887C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248275"/>
            <a:ext cx="914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KAIZEN  ·  Employees improve workflows, identify waste and solve problems</a:t>
            </a:r>
          </a:p>
        </p:txBody>
      </p:sp>
    </p:spTree>
    <p:extLst>
      <p:ext uri="{BB962C8B-B14F-4D97-AF65-F5344CB8AC3E}">
        <p14:creationId xmlns:p14="http://schemas.microsoft.com/office/powerpoint/2010/main" val="10655144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3174FE8-F070-4126-8912-6CB248BE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0EB29C-9CFC-40BB-A038-2054BE2A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PDCA: a repeatable improvement cycle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B7F3E3-CE4A-43DE-88A6-7EFE3EB8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3000"/>
            <a:ext cx="590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60233F-1775-4557-8EDB-AD9BE36F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55B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555B6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55B6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23598B-8022-4D39-8B7F-4BC2CC9B8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555B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55B6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55B61"/>
                </a:solidFill>
                <a:latin typeface="Arial"/>
                <a:ea typeface="Arial"/>
                <a:cs typeface="Arial"/>
              </a:rPr>
              <a:t>Use a problem-solving loop to test, evaluate, and refine a change.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AE1D26-DFB2-4CC3-B037-4D68E1D0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24100"/>
            <a:ext cx="2333625" cy="2362200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202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D61DC7-5B49-4B29-A2C2-73125145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524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D67EAE-57F2-403F-87DA-20EDCB4E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524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9A6900-BDDB-4BC5-82FE-96CD6B03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1623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E56340-D376-4322-9E4A-BD33D8AB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695700"/>
            <a:ext cx="190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122"/>
          </a:bodyPr>
          <a:lstStyle xmlns:a="http://schemas.openxmlformats.org/drawingml/2006/main">
            <a:defPPr algn="l">
              <a:defRPr sz="1575" b="0">
                <a:solidFill>
                  <a:srgbClr val="E7E8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E7E8E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7E8E9"/>
                </a:solidFill>
                <a:latin typeface="Arial"/>
                <a:ea typeface="Arial"/>
                <a:cs typeface="Arial"/>
              </a:rPr>
              <a:t>Identify a problem</a:t>
            </a:r>
          </a:p>
          <a:p xmlns:a="http://schemas.openxmlformats.org/drawingml/2006/main">
            <a:pPr algn="l">
              <a:defRPr sz="1575" b="0">
                <a:solidFill>
                  <a:srgbClr val="E7E8E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7E8E9"/>
                </a:solidFill>
                <a:latin typeface="Arial"/>
                <a:ea typeface="Arial"/>
                <a:cs typeface="Arial"/>
              </a:rPr>
              <a:t>and propose a change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94A1FA-AE88-4670-B2A4-2AA67BC1F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909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67548A-BB74-456F-B47E-56C9DBFD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314700"/>
            <a:ext cx="15240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4668EF-2215-40E3-B796-AD1048B8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24100"/>
            <a:ext cx="2333625" cy="2362200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E0E2E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BD175B-CFA4-4459-B106-14188065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524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BE82EB-74A2-462B-9FED-E7F61915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524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3464F7-9A38-495E-A9C4-9E01D001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1623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7390A0-38F5-46BF-89A1-FBB175AE6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695700"/>
            <a:ext cx="190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55B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55B6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5B61"/>
                </a:solidFill>
                <a:latin typeface="Arial"/>
                <a:ea typeface="Arial"/>
                <a:cs typeface="Arial"/>
              </a:rPr>
              <a:t>Try the solution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8A832B-AC42-49FC-B2D1-DE605A2B3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3909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5AA5DB-3A3E-49EA-8B50-E4D5DEFD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314700"/>
            <a:ext cx="15240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01D4DE-D653-4AB2-ACAA-173B17593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24100"/>
            <a:ext cx="2333625" cy="2362200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E0E2E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AB0DDD-C7AC-4E9D-AACD-FA07738A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524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2200C3-1F26-4379-BDEC-ADA80D8A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524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19070A-8A5E-4BC0-863B-18C51F21A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1623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4FD514-3EEE-4E50-8CAE-3FA7FD24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695700"/>
            <a:ext cx="190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122"/>
          </a:bodyPr>
          <a:lstStyle xmlns:a="http://schemas.openxmlformats.org/drawingml/2006/main">
            <a:defPPr algn="l">
              <a:defRPr sz="1575" b="0">
                <a:solidFill>
                  <a:srgbClr val="555B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55B6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5B61"/>
                </a:solidFill>
                <a:latin typeface="Arial"/>
                <a:ea typeface="Arial"/>
                <a:cs typeface="Arial"/>
              </a:rPr>
              <a:t>Review results and</a:t>
            </a:r>
          </a:p>
          <a:p xmlns:a="http://schemas.openxmlformats.org/drawingml/2006/main">
            <a:pPr algn="l">
              <a:defRPr sz="1575" b="0">
                <a:solidFill>
                  <a:srgbClr val="555B6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5B61"/>
                </a:solidFill>
                <a:latin typeface="Arial"/>
                <a:ea typeface="Arial"/>
                <a:cs typeface="Arial"/>
              </a:rPr>
              <a:t>see whether work improved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3F6BD9-9964-4602-98FA-E3453D16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909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BA0E38-8842-4DBA-A431-6D96F8EA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314700"/>
            <a:ext cx="15240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7F57EB-95BE-4A57-B8F4-491E7BD4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24100"/>
            <a:ext cx="2333625" cy="2362200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E0E2E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48CBDD-3683-4165-BE69-C30F4491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524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4EB011-7E51-4496-A1E0-848D28F35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524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9375BD-E020-475F-A9A3-3BD8BFE6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1623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ACT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1BF089-3EE1-41DC-B6C6-1A99C83A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695700"/>
            <a:ext cx="190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726"/>
          </a:bodyPr>
          <a:lstStyle xmlns:a="http://schemas.openxmlformats.org/drawingml/2006/main">
            <a:defPPr algn="l">
              <a:defRPr sz="1575" b="0">
                <a:solidFill>
                  <a:srgbClr val="555B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55B6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5B61"/>
                </a:solidFill>
                <a:latin typeface="Arial"/>
                <a:ea typeface="Arial"/>
                <a:cs typeface="Arial"/>
              </a:rPr>
              <a:t>Adopt the change or</a:t>
            </a:r>
          </a:p>
          <a:p xmlns:a="http://schemas.openxmlformats.org/drawingml/2006/main">
            <a:pPr algn="l">
              <a:defRPr sz="1575" b="0">
                <a:solidFill>
                  <a:srgbClr val="555B6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5B61"/>
                </a:solidFill>
                <a:latin typeface="Arial"/>
                <a:ea typeface="Arial"/>
                <a:cs typeface="Arial"/>
              </a:rPr>
              <a:t>adjust and try again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9DC856-34A5-4E59-90BE-808634DF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3875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Repeat the cycle as new evidence or problems emerge.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44E1E7-DB87-44BC-8EE3-8BCC34BF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1025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55B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55B6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B61"/>
                </a:solidFill>
                <a:latin typeface="Arial"/>
                <a:ea typeface="Arial"/>
                <a:cs typeface="Arial"/>
              </a:rPr>
              <a:t>PDCA is shown as a step-by-step sequence; add PowerPoint “Appear” effects to reveal each step during a live presentation.</a:t>
            </a:r>
          </a:p>
        </p:txBody>
      </p:sp>
    </p:spTree>
    <p:extLst>
      <p:ext uri="{BB962C8B-B14F-4D97-AF65-F5344CB8AC3E}">
        <p14:creationId xmlns:p14="http://schemas.microsoft.com/office/powerpoint/2010/main" val="468298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116604-1EF7-4243-A04E-687F6443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39C302-1396-41E1-8A10-E36946CB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20"/>
          </a:bodyPr>
          <a:lstStyle xmlns:a="http://schemas.openxmlformats.org/drawingml/2006/main">
            <a:defPPr algn="l"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Toyota case study: improvement embedded in daily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0B8882-4AA1-4E18-B912-6E5E77E6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3000"/>
            <a:ext cx="590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C6FDBA-ED55-457D-80ED-7EA7EB1D5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55B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555B6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55B6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5571B3-D2F2-44DE-97D6-DD55C89F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555B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55B6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55B61"/>
                </a:solidFill>
                <a:latin typeface="Arial"/>
                <a:ea typeface="Arial"/>
                <a:cs typeface="Arial"/>
              </a:rPr>
              <a:t>The case describes a recurring practice, rather than a single improvement project.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396EB8-B12A-47FD-8BD7-C46EF5590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64393A-7A86-4E72-A3EC-DAE851CC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2B4962-BA6B-4D31-8FFC-16DCEC78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9075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OBSERVE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939981-1A00-4CA7-9F3F-0F4ABB0B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90750"/>
            <a:ext cx="657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91B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91B1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1B1D"/>
                </a:solidFill>
                <a:latin typeface="Arial"/>
                <a:ea typeface="Arial"/>
                <a:cs typeface="Arial"/>
              </a:rPr>
              <a:t>Notice a problem in daily 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087DF4-5852-45BA-A1A5-57D66FA6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76525"/>
            <a:ext cx="285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952F98-741C-4881-81F5-C6EC4ABB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7D647A-0E20-4205-B027-89EDD8BD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886AC6-8830-4925-BF94-81CED8E5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8610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SUGGEST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2F1FC8-FE54-4BFE-B27B-9C379311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86100"/>
            <a:ext cx="657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91B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91B1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1B1D"/>
                </a:solidFill>
                <a:latin typeface="Arial"/>
                <a:ea typeface="Arial"/>
                <a:cs typeface="Arial"/>
              </a:rPr>
              <a:t>Employees propose a practical change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E3D16E-B449-4BB8-8FFC-1FEC648D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71875"/>
            <a:ext cx="285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0FE505-911E-4C6B-9F4C-00875B4E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767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6162E7-691C-411C-BC7D-DDEAB7D7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767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5A656E-E7E1-43B5-98FD-5AECAE19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8145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IMPROVE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5F9729-4FA5-4038-8C7B-2505BA5E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81450"/>
            <a:ext cx="657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91B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91B1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1B1D"/>
                </a:solidFill>
                <a:latin typeface="Arial"/>
                <a:ea typeface="Arial"/>
                <a:cs typeface="Arial"/>
              </a:rPr>
              <a:t>Reduce waste, improve quality or make work safer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6712DE-6A62-48E7-9409-F3F484AF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67225"/>
            <a:ext cx="285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C72EBD-143E-4BB8-962B-0F17D347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72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E36642-04AD-4FD9-AF3E-AEE5957EE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720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9030D4-7942-4887-AD3B-2FD15CF9D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7680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STANDARDIZE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C85136-53DB-4A0C-8567-8DF5AA68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76800"/>
            <a:ext cx="657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91B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91B1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1B1D"/>
                </a:solidFill>
                <a:latin typeface="Arial"/>
                <a:ea typeface="Arial"/>
                <a:cs typeface="Arial"/>
              </a:rPr>
              <a:t>Repeat successful changes in the process</a:t>
            </a:r>
          </a:p>
        </p:txBody>
      </p:sp>
    </p:spTree>
    <p:extLst>
      <p:ext uri="{BB962C8B-B14F-4D97-AF65-F5344CB8AC3E}">
        <p14:creationId xmlns:p14="http://schemas.microsoft.com/office/powerpoint/2010/main" val="8227781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CBAC16-D74A-478E-98B4-EE27C86A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430F98-2697-43C1-9AAA-3179287E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What supports Kaizen—and what can limit it?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AE3094-5D18-438A-9E77-C4448EAA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3000"/>
            <a:ext cx="590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7BC36E-86FB-47BB-A5BA-128D4AE4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55B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555B6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55B6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C13379-A07B-46F5-8E2B-DD381715B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19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015"/>
          </a:bodyPr>
          <a:lstStyle xmlns:a="http://schemas.openxmlformats.org/drawingml/2006/main">
            <a:defPPr algn="l">
              <a:defRPr sz="1800" b="0">
                <a:solidFill>
                  <a:srgbClr val="555B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55B6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5B61"/>
                </a:solidFill>
                <a:latin typeface="Arial"/>
                <a:ea typeface="Arial"/>
                <a:cs typeface="Arial"/>
              </a:rPr>
              <a:t>The approach can support operational improvement, but outcomes depend on how it is implemented.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E59FA1-C22F-4DDC-B5A9-4D266034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504825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5F6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F48ABE-5C97-46C8-A4CE-955C431F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33600"/>
            <a:ext cx="504825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5F6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4614A8-921B-4CA1-85E5-5D1DAB90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400300"/>
            <a:ext cx="442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POTENTIAL CONTRIBUTIONS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4D02B6-741D-486F-8DD9-7FF093F9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86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7C189F-B513-4DBF-AB08-25919D8D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00375"/>
            <a:ext cx="41243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91B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91B1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91B1D"/>
                </a:solidFill>
                <a:latin typeface="Arial"/>
                <a:ea typeface="Arial"/>
                <a:cs typeface="Arial"/>
              </a:rPr>
              <a:t>Earlier identification of defects and problems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C84DC6-7195-4E9E-A6E2-1193ABDA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52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87498F-068D-4DD3-8306-806EB515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67125"/>
            <a:ext cx="41243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91B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91B1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91B1D"/>
                </a:solidFill>
                <a:latin typeface="Arial"/>
                <a:ea typeface="Arial"/>
                <a:cs typeface="Arial"/>
              </a:rPr>
              <a:t>Less waste and more efficient workflows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9241C1-EA51-4A4A-AB3D-1A816E13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19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ED35BF-A4D1-40ED-B00E-1B6FCD2E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33875"/>
            <a:ext cx="41243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91B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91B1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91B1D"/>
                </a:solidFill>
                <a:latin typeface="Arial"/>
                <a:ea typeface="Arial"/>
                <a:cs typeface="Arial"/>
              </a:rPr>
              <a:t>Standardized improvements can help sustain results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445497-0548-4359-B61C-02A56B095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4003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IMPLEMENTATION CONDITIONS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A5CC23-5333-4292-81B1-35DBA2EA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86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19B453-CBFE-4279-AB79-0BFE1EAE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000375"/>
            <a:ext cx="41243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91B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91B1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91B1D"/>
                </a:solidFill>
                <a:latin typeface="Arial"/>
                <a:ea typeface="Arial"/>
                <a:cs typeface="Arial"/>
              </a:rPr>
              <a:t>Ongoing employee participation and training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B34A77-A729-49DC-B02A-7DDCD1247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752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1138F2-B3A0-4340-929B-2788026B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67125"/>
            <a:ext cx="41243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91B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91B1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91B1D"/>
                </a:solidFill>
                <a:latin typeface="Arial"/>
                <a:ea typeface="Arial"/>
                <a:cs typeface="Arial"/>
              </a:rPr>
              <a:t>Management support and local suitability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AC5B57-9A74-469B-A49A-1F4AED76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419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C2606A-B964-4512-87E2-8C8E22CC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333875"/>
            <a:ext cx="41243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91B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91B1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91B1D"/>
                </a:solidFill>
                <a:latin typeface="Arial"/>
                <a:ea typeface="Arial"/>
                <a:cs typeface="Arial"/>
              </a:rPr>
              <a:t>Balance efficiency goals with worker well-being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F1343C-D13E-4670-B351-62C9BFBBC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67375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The same results cannot be assumed in every organization or setting.</a:t>
            </a:r>
          </a:p>
        </p:txBody>
      </p:sp>
    </p:spTree>
    <p:extLst>
      <p:ext uri="{BB962C8B-B14F-4D97-AF65-F5344CB8AC3E}">
        <p14:creationId xmlns:p14="http://schemas.microsoft.com/office/powerpoint/2010/main" val="1595377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021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9713BF-D77E-41EF-ADA8-6576513C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1FF60E-8FCF-4F80-97E9-ED6CFB26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1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16B7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16B70"/>
                </a:solidFill>
                <a:latin typeface="Arial"/>
                <a:ea typeface="Arial"/>
                <a:cs typeface="Arial"/>
              </a:rPr>
              <a:t>KAIZEN AT TOYOTA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4CF2AC-6291-40EF-A742-FC3FD55A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9906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structured way to improve—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when people can take part.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0539CF-BB50-46DB-996A-C0945A17E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685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9DB9DA-C86F-4D54-8993-1CFE8198D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98107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E4E6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E4E6E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4E6E8"/>
                </a:solidFill>
                <a:latin typeface="Arial"/>
                <a:ea typeface="Arial"/>
                <a:cs typeface="Arial"/>
              </a:rPr>
              <a:t>Toyota’s approach connects employee problem-solving with TPS practices and repeated improvement. It can help reduce waste and improve quality and efficiency, while results depend on participation, management support, context, and worker well-being.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F79F5F-C581-4559-9B64-659D7BB6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1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16B7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16B70"/>
                </a:solidFill>
                <a:latin typeface="Arial"/>
                <a:ea typeface="Arial"/>
                <a:cs typeface="Arial"/>
              </a:rPr>
              <a:t>Research answer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F4DC55-3382-4A0A-8645-32EBCF39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43600"/>
            <a:ext cx="9858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Kaizen contributes through everyday, shared problem-solving—not through a one-time change.</a:t>
            </a:r>
          </a:p>
        </p:txBody>
      </p:sp>
    </p:spTree>
    <p:extLst>
      <p:ext uri="{BB962C8B-B14F-4D97-AF65-F5344CB8AC3E}">
        <p14:creationId xmlns:p14="http://schemas.microsoft.com/office/powerpoint/2010/main" val="2426036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2026-10-04T20:28:42.4090000Z</dcterms:created>
  <dcterms:modified xsi:type="dcterms:W3CDTF">2026-10-04T20:28:42.4090000Z</dcterms:modified>
</coreProperties>
</file>